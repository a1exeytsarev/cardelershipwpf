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D2FB0-32E2-42E2-A776-E1C23D80036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B1430-C1FC-4B29-955D-B26D2EF57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9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4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6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0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1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8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8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9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8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3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1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6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6/17/2026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9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2035EA-BBE4-45B8-9B7D-BC6FBD99A14C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«ПЕТРОВСКИЙ КОЛЛЕДЖ»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0050A62-F9BB-4AEE-83D3-351A68F10EE0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154034" y="2104453"/>
            <a:ext cx="9144000" cy="132454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Курсовой проект по теме </a:t>
            </a: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“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программного модуля для управления складом автосалона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22D25E2-AA89-4521-868E-E19DBAAEE7C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Царев А.Д.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F7A3BACB-FE18-471E-A3CF-4E00D905550C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Руководитель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Т.С. Спиридонова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FF29C-65E7-0D12-BFFC-413A65E85BEF}"/>
              </a:ext>
            </a:extLst>
          </p:cNvPr>
          <p:cNvSpPr txBox="1"/>
          <p:nvPr/>
        </p:nvSpPr>
        <p:spPr>
          <a:xfrm>
            <a:off x="5258069" y="6356350"/>
            <a:ext cx="11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FCD7E1-87F4-16A1-28DD-FCE8BBB46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959" y="1256427"/>
            <a:ext cx="3648292" cy="3392355"/>
          </a:xfrm>
        </p:spPr>
        <p:txBody>
          <a:bodyPr>
            <a:normAutofit/>
          </a:bodyPr>
          <a:lstStyle/>
          <a:p>
            <a:r>
              <a:rPr lang="ru-RU" b="1" dirty="0"/>
              <a:t>Цель работы: </a:t>
            </a:r>
            <a:r>
              <a:rPr lang="ru-RU" dirty="0"/>
              <a:t>Разработать WPF приложение для автоматизации управления складом автосалона, включающее учёт автомобилей, управление заказами, контроль поставок и администрирование справочной информации.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0E7D5D0C-8320-D611-3EE1-32A713270037}"/>
              </a:ext>
            </a:extLst>
          </p:cNvPr>
          <p:cNvSpPr txBox="1">
            <a:spLocks/>
          </p:cNvSpPr>
          <p:nvPr/>
        </p:nvSpPr>
        <p:spPr bwMode="auto">
          <a:xfrm>
            <a:off x="656133" y="0"/>
            <a:ext cx="3169579" cy="636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Цель и задачи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C17C604-88A6-97AD-90E1-0CC8BEF11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287179"/>
              </p:ext>
            </p:extLst>
          </p:nvPr>
        </p:nvGraphicFramePr>
        <p:xfrm>
          <a:off x="5425131" y="781776"/>
          <a:ext cx="5269240" cy="5666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649">
                  <a:extLst>
                    <a:ext uri="{9D8B030D-6E8A-4147-A177-3AD203B41FA5}">
                      <a16:colId xmlns:a16="http://schemas.microsoft.com/office/drawing/2014/main" val="2066702506"/>
                    </a:ext>
                  </a:extLst>
                </a:gridCol>
                <a:gridCol w="4286591">
                  <a:extLst>
                    <a:ext uri="{9D8B030D-6E8A-4147-A177-3AD203B41FA5}">
                      <a16:colId xmlns:a16="http://schemas.microsoft.com/office/drawing/2014/main" val="3958973385"/>
                    </a:ext>
                  </a:extLst>
                </a:gridCol>
              </a:tblGrid>
              <a:tr h="39787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Задачи: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683737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Провести анализ предметной области автосалона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153585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Спроектировать базу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20785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Разработать WPF-приложение с современным интерфейсом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864430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Реализовать систему авторизации и разграничения ролей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88804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Внедрить систему управления заказами и поставками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9147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Реализовать генерацию QR-кодов и PDF-чеков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47702"/>
                  </a:ext>
                </a:extLst>
              </a:tr>
              <a:tr h="75269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Интегрировать AI-помощника на базе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YandexGPT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13704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FFC0452-2781-6249-81F5-16460931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b="1" smtClean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pPr/>
              <a:t>2</a:t>
            </a:fld>
            <a:endParaRPr lang="en-US" sz="24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044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67E6E-CBC7-0969-B4DE-9B85140A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38" y="944065"/>
            <a:ext cx="10515600" cy="4969869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Название системы:</a:t>
            </a:r>
            <a:r>
              <a:rPr lang="ru-RU" sz="2700" dirty="0"/>
              <a:t> </a:t>
            </a:r>
            <a:r>
              <a:rPr lang="ru-RU" sz="2700" dirty="0" err="1"/>
              <a:t>CarDelership</a:t>
            </a:r>
            <a:br>
              <a:rPr lang="ru-RU" sz="2700" dirty="0"/>
            </a:br>
            <a:br>
              <a:rPr lang="ru-RU" sz="2700" dirty="0"/>
            </a:br>
            <a:r>
              <a:rPr lang="ru-RU" sz="2700" b="1" dirty="0"/>
              <a:t>Основная деятельность:</a:t>
            </a:r>
            <a:br>
              <a:rPr lang="ru-RU" sz="2700" dirty="0"/>
            </a:br>
            <a:r>
              <a:rPr lang="ru-RU" sz="2700" dirty="0"/>
              <a:t>Учёт автомобилей на складе автосалона, управление заказами клиентов, контроль поставок, ведение справочников.</a:t>
            </a:r>
            <a:br>
              <a:rPr lang="ru-RU" sz="2700" dirty="0"/>
            </a:br>
            <a:br>
              <a:rPr lang="ru-RU" sz="2700" dirty="0"/>
            </a:br>
            <a:r>
              <a:rPr lang="ru-RU" sz="2700" b="1" dirty="0"/>
              <a:t>Цель создания системы:</a:t>
            </a:r>
            <a:br>
              <a:rPr lang="ru-RU" sz="2700" dirty="0"/>
            </a:br>
            <a:r>
              <a:rPr lang="ru-RU" sz="2700" dirty="0"/>
              <a:t>Автоматизация процессов автосалона, минимизация ошибок при учёте, оперативное оформление заказов, контроль складских остатков.</a:t>
            </a:r>
            <a:br>
              <a:rPr lang="ru-RU" sz="2700" dirty="0"/>
            </a:br>
            <a:br>
              <a:rPr lang="ru-RU" sz="2700" dirty="0"/>
            </a:br>
            <a:r>
              <a:rPr lang="ru-RU" sz="2700" b="1" dirty="0"/>
              <a:t>Категории пользователей:</a:t>
            </a:r>
            <a:br>
              <a:rPr lang="ru-RU" sz="2700" dirty="0"/>
            </a:br>
            <a:r>
              <a:rPr lang="ru-RU" sz="2700" b="1" dirty="0"/>
              <a:t>Администратор</a:t>
            </a:r>
            <a:r>
              <a:rPr lang="ru-RU" sz="2700" dirty="0"/>
              <a:t> – полный доступ ко всем функциям</a:t>
            </a:r>
            <a:br>
              <a:rPr lang="ru-RU" sz="2700" dirty="0"/>
            </a:br>
            <a:r>
              <a:rPr lang="ru-RU" sz="2700" b="1" dirty="0"/>
              <a:t>Менеджер</a:t>
            </a:r>
            <a:r>
              <a:rPr lang="ru-RU" sz="2700" dirty="0"/>
              <a:t> – управление автомобилями, заказами и поставками</a:t>
            </a:r>
            <a:br>
              <a:rPr lang="ru-RU" sz="2700" dirty="0"/>
            </a:br>
            <a:r>
              <a:rPr lang="ru-RU" sz="2700" b="1" dirty="0"/>
              <a:t>Клиент</a:t>
            </a:r>
            <a:r>
              <a:rPr lang="ru-RU" sz="2700" dirty="0"/>
              <a:t> – просмотр каталога, корзина, оформление заказов</a:t>
            </a:r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AD66B82D-C644-858B-1C5C-0FF7A9D4DA15}"/>
              </a:ext>
            </a:extLst>
          </p:cNvPr>
          <p:cNvSpPr txBox="1">
            <a:spLocks/>
          </p:cNvSpPr>
          <p:nvPr/>
        </p:nvSpPr>
        <p:spPr bwMode="auto">
          <a:xfrm>
            <a:off x="426371" y="0"/>
            <a:ext cx="5257800" cy="84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Описание предметной области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8D93E7-628B-FF4E-4CE4-7F8B2FF5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80" y="6492875"/>
            <a:ext cx="2743200" cy="365125"/>
          </a:xfrm>
        </p:spPr>
        <p:txBody>
          <a:bodyPr/>
          <a:lstStyle/>
          <a:p>
            <a:r>
              <a:rPr lang="ru-RU" sz="1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164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6C5994B-80C8-8464-507A-AE09DB69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342268"/>
              </p:ext>
            </p:extLst>
          </p:nvPr>
        </p:nvGraphicFramePr>
        <p:xfrm>
          <a:off x="838200" y="2296470"/>
          <a:ext cx="10515600" cy="2816072"/>
        </p:xfrm>
        <a:graphic>
          <a:graphicData uri="http://schemas.openxmlformats.org/drawingml/2006/table">
            <a:tbl>
              <a:tblPr/>
              <a:tblGrid>
                <a:gridCol w="2875359">
                  <a:extLst>
                    <a:ext uri="{9D8B030D-6E8A-4147-A177-3AD203B41FA5}">
                      <a16:colId xmlns:a16="http://schemas.microsoft.com/office/drawing/2014/main" val="2920224038"/>
                    </a:ext>
                  </a:extLst>
                </a:gridCol>
                <a:gridCol w="2382441">
                  <a:extLst>
                    <a:ext uri="{9D8B030D-6E8A-4147-A177-3AD203B41FA5}">
                      <a16:colId xmlns:a16="http://schemas.microsoft.com/office/drawing/2014/main" val="3012446989"/>
                    </a:ext>
                  </a:extLst>
                </a:gridCol>
                <a:gridCol w="2382441">
                  <a:extLst>
                    <a:ext uri="{9D8B030D-6E8A-4147-A177-3AD203B41FA5}">
                      <a16:colId xmlns:a16="http://schemas.microsoft.com/office/drawing/2014/main" val="3737969172"/>
                    </a:ext>
                  </a:extLst>
                </a:gridCol>
                <a:gridCol w="2875359">
                  <a:extLst>
                    <a:ext uri="{9D8B030D-6E8A-4147-A177-3AD203B41FA5}">
                      <a16:colId xmlns:a16="http://schemas.microsoft.com/office/drawing/2014/main" val="1021922782"/>
                    </a:ext>
                  </a:extLst>
                </a:gridCol>
              </a:tblGrid>
              <a:tr h="4022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1С:Автосалон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Автосалон-онлайн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CarDelership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44414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Стоимость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Бесплатно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88508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Сложность настройки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Сложная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Простая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02176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Учёт поставок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Ограничен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54690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QR-коды в чеках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4254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AI-помощник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97806"/>
                  </a:ext>
                </a:extLst>
              </a:tr>
              <a:tr h="4022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PDF-чеки</a:t>
                      </a:r>
                    </a:p>
                  </a:txBody>
                  <a:tcPr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Ограничено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</a:t>
                      </a:r>
                    </a:p>
                  </a:txBody>
                  <a:tcPr marL="60960" marR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6096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174"/>
                  </a:ext>
                </a:extLst>
              </a:tr>
            </a:tbl>
          </a:graphicData>
        </a:graphic>
      </p:graphicFrame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B26392E6-AABD-B679-E63F-9C682F9179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64785" y="-97536"/>
            <a:ext cx="5272719" cy="1009644"/>
          </a:xfrm>
        </p:spPr>
        <p:txBody>
          <a:bodyPr>
            <a:normAutofit/>
          </a:bodyPr>
          <a:lstStyle/>
          <a:p>
            <a:pPr algn="l"/>
            <a:r>
              <a:rPr lang="ru-RU" sz="2000" b="1" dirty="0">
                <a:solidFill>
                  <a:srgbClr val="F9FAF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Анализ существующих аналогов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6361786-7C02-C872-1A49-F0D22005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81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0F0F00-6C4C-B292-13F1-9F30DAAE1A36}"/>
              </a:ext>
            </a:extLst>
          </p:cNvPr>
          <p:cNvSpPr txBox="1"/>
          <p:nvPr/>
        </p:nvSpPr>
        <p:spPr>
          <a:xfrm>
            <a:off x="935922" y="62822"/>
            <a:ext cx="6097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Инструментальные и системные программные средства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A46253-828A-B4A0-81AA-2E66088AD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5" y="2010156"/>
            <a:ext cx="3383280" cy="3383280"/>
          </a:xfrm>
          <a:prstGeom prst="rect">
            <a:avLst/>
          </a:prstGeom>
        </p:spPr>
      </p:pic>
      <p:pic>
        <p:nvPicPr>
          <p:cNvPr id="9" name="Picture 6" descr="Picture background">
            <a:extLst>
              <a:ext uri="{FF2B5EF4-FFF2-40B4-BE49-F238E27FC236}">
                <a16:creationId xmlns:a16="http://schemas.microsoft.com/office/drawing/2014/main" id="{3CF068FB-F676-4FFE-9D8F-6F665ABC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861" y="2331720"/>
            <a:ext cx="2625979" cy="274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969CF02-C7B7-00B4-5E16-7B755CE2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934" y="2528594"/>
            <a:ext cx="2773930" cy="219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78920E0F-1382-2B27-FE11-7CA5BE88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966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1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3E7F2D5E-6380-9EE9-10EB-1F30E58618F0}"/>
              </a:ext>
            </a:extLst>
          </p:cNvPr>
          <p:cNvSpPr txBox="1">
            <a:spLocks/>
          </p:cNvSpPr>
          <p:nvPr/>
        </p:nvSpPr>
        <p:spPr bwMode="auto">
          <a:xfrm>
            <a:off x="754967" y="147521"/>
            <a:ext cx="4731433" cy="5866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0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Проектирование ПО информационной системы</a:t>
            </a:r>
            <a:endParaRPr lang="ru-RU" sz="54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8DD140-7422-8ACA-6918-356EA133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8" y="873601"/>
            <a:ext cx="10252141" cy="561794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358AC3D-CF78-F2DB-ED85-BF4742D4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1542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22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AF76297-00AB-8532-940B-002E5381C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2581"/>
              </p:ext>
            </p:extLst>
          </p:nvPr>
        </p:nvGraphicFramePr>
        <p:xfrm>
          <a:off x="684055" y="1005840"/>
          <a:ext cx="991957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893">
                  <a:extLst>
                    <a:ext uri="{9D8B030D-6E8A-4147-A177-3AD203B41FA5}">
                      <a16:colId xmlns:a16="http://schemas.microsoft.com/office/drawing/2014/main" val="4026908560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1928450957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2144421558"/>
                    </a:ext>
                  </a:extLst>
                </a:gridCol>
                <a:gridCol w="2479893">
                  <a:extLst>
                    <a:ext uri="{9D8B030D-6E8A-4147-A177-3AD203B41FA5}">
                      <a16:colId xmlns:a16="http://schemas.microsoft.com/office/drawing/2014/main" val="776510315"/>
                    </a:ext>
                  </a:extLst>
                </a:gridCol>
              </a:tblGrid>
              <a:tr h="585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всех пользователей: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менеджера (дополнительно):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Для администратора (дополнительно):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Дополнительные функции: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58681"/>
                  </a:ext>
                </a:extLst>
              </a:tr>
              <a:tr h="38463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Авторизация и регистрация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Просмотр каталога автомобилей с поиском, фильтрацией и сортировкой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Корзина и оформление заказов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Генерация PDF-чека с QR-кодом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AI-помощник для консультаций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Добавление и редактирование автомобилей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заказами (изменение статуса)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поставками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Удаление автомобилей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пользователями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Управление справочниками (производители, модели, цвета и т.д.)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QR-код для отслеживания заказа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PDF-чек с деталями заказа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/>
                        <a:t>AI-помощник на базе </a:t>
                      </a:r>
                      <a:r>
                        <a:rPr lang="ru-RU" dirty="0" err="1"/>
                        <a:t>YandexGPT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4318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5C536A-AF09-6454-D08A-74C235643C53}"/>
              </a:ext>
            </a:extLst>
          </p:cNvPr>
          <p:cNvSpPr txBox="1"/>
          <p:nvPr/>
        </p:nvSpPr>
        <p:spPr>
          <a:xfrm>
            <a:off x="1013869" y="174505"/>
            <a:ext cx="4207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Функции приложения</a:t>
            </a:r>
            <a:endParaRPr lang="ru-RU" sz="2400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CB9CFFC-CFFA-1C15-514C-CC749FC2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8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7</a:t>
            </a:r>
            <a:endParaRPr lang="en-US" sz="1600" b="1" dirty="0">
              <a:solidFill>
                <a:schemeClr val="bg1"/>
              </a:solidFill>
              <a:latin typeface="Verdana"/>
              <a:ea typeface="Verdan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764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EB52A00F-E97B-FC7F-6F8F-F5E5C67E7C4A}"/>
              </a:ext>
            </a:extLst>
          </p:cNvPr>
          <p:cNvSpPr txBox="1">
            <a:spLocks/>
          </p:cNvSpPr>
          <p:nvPr/>
        </p:nvSpPr>
        <p:spPr bwMode="auto">
          <a:xfrm>
            <a:off x="-429191" y="0"/>
            <a:ext cx="7441809" cy="8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b="1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Модель базы данных</a:t>
            </a:r>
            <a:endParaRPr lang="ru-RU" sz="66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7384CD-3DC8-B5B5-65F9-72A6A29A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4942" y="853049"/>
            <a:ext cx="9897858" cy="5647366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144879D-AAF1-4786-4A32-2F834F2C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362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91C58FA-3A7F-FEA2-43B9-A4E628BB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3573" y="2216514"/>
            <a:ext cx="9224853" cy="253697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 ходе работы разработано WPF-приложение «</a:t>
            </a:r>
            <a:r>
              <a:rPr lang="ru-RU" dirty="0" err="1"/>
              <a:t>CarDelership</a:t>
            </a:r>
            <a:r>
              <a:rPr lang="ru-RU" dirty="0"/>
              <a:t>» для автосалона. Реализованы авторизация (3 роли), CRUD с авто, каталог с фильтрацией, заказы с корзиной, поставки, PDF-чек с QR-кодом и AI-помощник. Приложение протестировано и готово к использованию.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C59AC5F9-8C5C-BA26-F7AF-5D93AB0205B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84054" y="0"/>
            <a:ext cx="3697369" cy="85304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Заключение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8DD25D-F4ED-43F9-5D10-EF054671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4560" y="6492875"/>
            <a:ext cx="2743200" cy="365125"/>
          </a:xfrm>
        </p:spPr>
        <p:txBody>
          <a:bodyPr/>
          <a:lstStyle/>
          <a:p>
            <a:r>
              <a:rPr lang="ru-RU" sz="16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9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9018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CA8C3-C037-057A-024D-CC09779D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0686B71-A2E2-697F-B22A-7E2FEBDF0AB8}"/>
              </a:ext>
            </a:extLst>
          </p:cNvPr>
          <p:cNvSpPr/>
          <p:nvPr/>
        </p:nvSpPr>
        <p:spPr bwMode="auto">
          <a:xfrm>
            <a:off x="1997611" y="0"/>
            <a:ext cx="7665663" cy="179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ПРАВИТЕЛЬСТВО САНКТ-ПЕТЕРБУРГА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КОМИТЕТ ПО НАУКЕ И ВЫСШЕЙ ШКОЛЕ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Санкт-Петербургское государственное бюджетное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профессиональное образовательное учреждение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«ПЕТРОВСКИЙ КОЛЛЕДЖ»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(СПб ГБПОУ «Петровский колледж»)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Verdana"/>
                <a:cs typeface="Times New Roman"/>
              </a:rPr>
              <a:t>Отделение информационных технологий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F01D1D7-661B-D0D7-6FB0-0668AA3E91A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154034" y="2104453"/>
            <a:ext cx="9144000" cy="132454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Курсовой проект по теме </a:t>
            </a: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“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программного модуля для управления складом автосалона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780710C0-0FA8-E14F-A29F-98A97AF8F7B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300126" y="5446908"/>
            <a:ext cx="5759496" cy="323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00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Verdana"/>
                <a:ea typeface="Verdana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Verdana"/>
                <a:ea typeface="Verdana"/>
              </a:rPr>
              <a:t>Царев А.Д.</a:t>
            </a:r>
            <a:endParaRPr b="1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CE25E4F-AA36-6B37-A489-6154D7A21D2D}"/>
              </a:ext>
            </a:extLst>
          </p:cNvPr>
          <p:cNvSpPr txBox="1"/>
          <p:nvPr/>
        </p:nvSpPr>
        <p:spPr bwMode="auto">
          <a:xfrm>
            <a:off x="6531106" y="6005191"/>
            <a:ext cx="4670475" cy="323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Руководитель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Т.С. Спиридонова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1B7EB-1833-2992-2B42-501FB86CC1DB}"/>
              </a:ext>
            </a:extLst>
          </p:cNvPr>
          <p:cNvSpPr txBox="1"/>
          <p:nvPr/>
        </p:nvSpPr>
        <p:spPr>
          <a:xfrm>
            <a:off x="5258069" y="6356350"/>
            <a:ext cx="11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27194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458</Words>
  <Application>Microsoft Office PowerPoint</Application>
  <PresentationFormat>Широкоэкранный</PresentationFormat>
  <Paragraphs>103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quote-cjk-patch</vt:lpstr>
      <vt:lpstr>Verdana</vt:lpstr>
      <vt:lpstr>Тема1</vt:lpstr>
      <vt:lpstr>Курсовой проект по теме  “Разработка программного модуля для управления складом автосалона”</vt:lpstr>
      <vt:lpstr>Презентация PowerPoint</vt:lpstr>
      <vt:lpstr>Название системы: CarDelership  Основная деятельность: Учёт автомобилей на складе автосалона, управление заказами клиентов, контроль поставок, ведение справочников.  Цель создания системы: Автоматизация процессов автосалона, минимизация ошибок при учёте, оперативное оформление заказов, контроль складских остатков.  Категории пользователей: Администратор – полный доступ ко всем функциям Менеджер – управление автомобилями, заказами и поставками Клиент – просмотр каталога, корзина, оформление заказов</vt:lpstr>
      <vt:lpstr>Анализ существующих аналогов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Курсовой проект по теме  “Разработка программного модуля для управления складом автосалона”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Царев</dc:creator>
  <cp:lastModifiedBy>Алексей Царев</cp:lastModifiedBy>
  <cp:revision>1</cp:revision>
  <dcterms:created xsi:type="dcterms:W3CDTF">2026-06-17T19:18:07Z</dcterms:created>
  <dcterms:modified xsi:type="dcterms:W3CDTF">2026-06-17T19:45:26Z</dcterms:modified>
</cp:coreProperties>
</file>